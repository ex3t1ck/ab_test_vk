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 — контроль</c:v>
                </c:pt>
              </c:strCache>
            </c:strRef>
          </c:tx>
          <c:spPr>
            <a:solidFill>
              <a:srgbClr val="8E9AAF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A1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логин → начал задачу</c:v>
                  </c:pt>
                  <c:pt idx="1">
                    <c:v>начал → завершил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90</c:v>
                </c:pt>
                <c:pt idx="1">
                  <c:v>34.56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 — тест</c:v>
                </c:pt>
              </c:strCache>
            </c:strRef>
          </c:tx>
          <c:spPr>
            <a:solidFill>
              <a:srgbClr val="F4A261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A1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логин → начал задачу</c:v>
                  </c:pt>
                  <c:pt idx="1">
                    <c:v>начал → завершил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90.09</c:v>
                </c:pt>
                <c:pt idx="1">
                  <c:v>44.74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A1A1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A1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5"/>
          <c:min val="0"/>
        </c:scaling>
        <c:delete val="0"/>
        <c:axPos val="l"/>
        <c:majorGridlines>
          <c:spPr>
            <a:ln w="12700" cap="flat">
              <a:solidFill>
                <a:srgbClr val="E3E5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7F87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7A7F87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изменение Completion Rate</c:v>
                </c:pt>
              </c:strCache>
            </c:strRef>
          </c:tx>
          <c:spPr>
            <a:solidFill>
              <a:srgbClr val="F4A261"/>
            </a:solidFill>
            <a:effectLst/>
          </c:spPr>
          <c:invertIfNegative val="0"/>
          <c:dLbls>
            <c:numFmt formatCode="+0.0&quot;%&quot;;-0.0&quot;%&quot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A1A1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4A26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4A26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4A26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4A261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4A261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C1554D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C1554D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5 класс</c:v>
                  </c:pt>
                  <c:pt idx="1">
                    <c:v>6 класс</c:v>
                  </c:pt>
                  <c:pt idx="2">
                    <c:v>7 класс</c:v>
                  </c:pt>
                  <c:pt idx="3">
                    <c:v>8 класс</c:v>
                  </c:pt>
                  <c:pt idx="4">
                    <c:v>9 класс</c:v>
                  </c:pt>
                  <c:pt idx="5">
                    <c:v>10 класс</c:v>
                  </c:pt>
                  <c:pt idx="6">
                    <c:v>11 класс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57.2</c:v>
                </c:pt>
                <c:pt idx="1">
                  <c:v>59</c:v>
                </c:pt>
                <c:pt idx="2">
                  <c:v>43.3</c:v>
                </c:pt>
                <c:pt idx="3">
                  <c:v>25.8</c:v>
                </c:pt>
                <c:pt idx="4">
                  <c:v>28.1</c:v>
                </c:pt>
                <c:pt idx="5">
                  <c:v>-12.7</c:v>
                </c:pt>
                <c:pt idx="6">
                  <c:v>-15.9</c:v>
                </c:pt>
              </c:numCache>
            </c:numRef>
          </c:val>
        </c:ser>
        <c:dLbls>
          <c:numFmt formatCode="+0.0&quot;%&quot;;-0.0&quot;%&quot;" sourceLinked="0"/>
          <c:txPr>
            <a:bodyPr/>
            <a:lstStyle/>
            <a:p>
              <a:pPr>
                <a:defRPr b="0" i="0" strike="noStrike" sz="1300" u="none">
                  <a:solidFill>
                    <a:srgbClr val="1A1A1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50" b="0" i="0" u="none" strike="noStrike">
                <a:solidFill>
                  <a:srgbClr val="1A1A1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-30"/>
        </c:scaling>
        <c:delete val="0"/>
        <c:axPos val="l"/>
        <c:majorGridlines>
          <c:spPr>
            <a:ln w="12700" cap="flat">
              <a:solidFill>
                <a:srgbClr val="E3E5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7F87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Тест геймификации на образовательной платформе. Три недели, около 6 тысяч учеников. Задача — решить, раскатывать фичу или нет.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Гипотеза: геймификация повысит и конверсию, и удержание. Разделили случайно пополам, эксперимент шёл три недели.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Сначала проверили, что тест вообще можно интерпретировать. SRM меряли до чистки — он проверяет рандомизатор, а не данные. Хи-квадрат по классам важен: если бы классы разложились неровно, мы бы спутали эффект фичи с составом аудитории.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Пять метрик из пяти значимы даже после поправки Холма. MDE 3.3 процента — наблюдаемый эффект превышает порог обнаружения в восемь раз. Но это агрегат, и дальше будет видно, почему на нём нельзя останавливаться.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Важный момент: эффект локализован. Первый шаг воронки в группах совпадает до десятой доли процента. Значит рост не от того, что люди стали чаще заходить, а именно от доведения задач до конца.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Тест Левене показал, что разброс в тестовой группе заметно больше. Это признак того, что фича действует на людей по-разному. Гипотезу выдвинули до того, как резать данные — это защита от подгонки результата.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Вот главный результат. Эффект убывает монотонно от пятого класса к одиннадцатому и меняет знак между девятым и десятым — там, где начинается подготовка к ЕГЭ. Retention D14 показывает то же направление во всех классах.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Решение сегментное. На 5–9 классы раскатываем, на 10–11 нет. Если бы мы смотрели только на общий результат, мы бы навредили самой дорогой аудитории.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Причину данные не показывают, но правдоподобные версии назвать стоит. И обязательно про ограничение: три недели мало, геймификация подвержена эффекту новизны. Рост Retention D14 сильнее D7 говорит скорее против затухания, но проверять надо на длинном горизонте.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286000"/>
            <a:ext cx="10725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A/B-тест геймификации</a:t>
            </a:r>
            <a:endParaRPr lang="en-US" sz="4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154680"/>
            <a:ext cx="10725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B8BC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 достижений в личном кабинете ученика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31520" y="3886200"/>
            <a:ext cx="1280160" cy="32004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425196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5 980 пользователей   ·   3 недели   ·   169 833 события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10725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проверяли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115568"/>
            <a:ext cx="10725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7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Гипотеза продуктовой команды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600200"/>
            <a:ext cx="10725912" cy="10973"/>
          </a:xfrm>
          <a:prstGeom prst="rect">
            <a:avLst/>
          </a:prstGeom>
          <a:solidFill>
            <a:srgbClr val="E3E5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965960"/>
            <a:ext cx="10725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добавить в личный кабинет ученика систему достижений за регулярное решение</a:t>
            </a:r>
            <a:endParaRPr lang="en-US" sz="18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задач, вырастет конверсия в прохождение модуля и удержание.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3593592"/>
            <a:ext cx="45720" cy="566928"/>
          </a:xfrm>
          <a:prstGeom prst="rect">
            <a:avLst/>
          </a:prstGeom>
          <a:solidFill>
            <a:srgbClr val="8E9AA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87552" y="3520440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— контроль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987552" y="3849624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A7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старый интерфейс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31520" y="4736592"/>
            <a:ext cx="45720" cy="566928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87552" y="4663440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— тест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987552" y="4992624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A7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интерфейс с геймификацией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6675120" y="3520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7A7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Метрики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675120" y="3931920"/>
            <a:ext cx="4754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 Rate — доля доведённых до конца задач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7 и 14 дня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Value — время до первой решённой задачи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10725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чистые, эксперимент валиден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115568"/>
            <a:ext cx="10725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7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Проверили до того, как считать метрики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600200"/>
            <a:ext cx="10725912" cy="10973"/>
          </a:xfrm>
          <a:prstGeom prst="rect">
            <a:avLst/>
          </a:prstGeom>
          <a:solidFill>
            <a:srgbClr val="E3E5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96596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578608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юзеров попали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обе группы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20040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удалены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3520440" y="196596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3520440" y="2578608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ботов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(711–842 события)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3520440" y="320040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удалены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309360" y="196596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0.99</a:t>
            </a:r>
            <a:endParaRPr lang="en-US" sz="3200" dirty="0"/>
          </a:p>
        </p:txBody>
      </p:sp>
      <p:sp>
        <p:nvSpPr>
          <p:cNvPr id="12" name="Text 10"/>
          <p:cNvSpPr txBox="1"/>
          <p:nvPr/>
        </p:nvSpPr>
        <p:spPr>
          <a:xfrm>
            <a:off x="6309360" y="2578608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 на SRM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6309360" y="320040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сплит ровный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9098280" y="196596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0.24</a:t>
            </a:r>
            <a:endParaRPr lang="en-US" sz="3200" dirty="0"/>
          </a:p>
        </p:txBody>
      </p:sp>
      <p:sp>
        <p:nvSpPr>
          <p:cNvPr id="15" name="Text 13"/>
          <p:cNvSpPr txBox="1"/>
          <p:nvPr/>
        </p:nvSpPr>
        <p:spPr>
          <a:xfrm>
            <a:off x="9098280" y="2578608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χ² по классам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9098280" y="320040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состав одинаковый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31520" y="4297680"/>
            <a:ext cx="10725912" cy="1143000"/>
          </a:xfrm>
          <a:prstGeom prst="rect">
            <a:avLst/>
          </a:prstGeom>
          <a:solidFill>
            <a:srgbClr val="F7F8F9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051560" y="4526280"/>
            <a:ext cx="10085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Ботов видно по разрыву в данных: у 12 аккаунтов 711–842 события, у следующего — 52.</a:t>
            </a:r>
            <a:endParaRPr lang="en-US" sz="14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Они разложились по группам поровну, но раздувают дисперсию и режут мощность теста.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5669280"/>
            <a:ext cx="10725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7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Осталось 5 980 пользователей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10725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метрики выросли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115568"/>
            <a:ext cx="10725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7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Значимо после поправки на множественные сравнения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600200"/>
            <a:ext cx="10725912" cy="10973"/>
          </a:xfrm>
          <a:prstGeom prst="rect">
            <a:avLst/>
          </a:prstGeom>
          <a:solidFill>
            <a:srgbClr val="E3E5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9202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A7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Метрика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120640" y="19202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A7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675120" y="19202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A7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595360" y="19202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A7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Изменение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2258568"/>
            <a:ext cx="10725912" cy="10973"/>
          </a:xfrm>
          <a:prstGeom prst="rect">
            <a:avLst/>
          </a:prstGeom>
          <a:solidFill>
            <a:srgbClr val="E3E5E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236829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 Rate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120640" y="236829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A7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0.346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675120" y="236829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0.438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8595360" y="236829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+26.6%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31520" y="2807208"/>
            <a:ext cx="10725912" cy="10973"/>
          </a:xfrm>
          <a:prstGeom prst="rect">
            <a:avLst/>
          </a:prstGeom>
          <a:solidFill>
            <a:srgbClr val="E3E5E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31520" y="291693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D7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120640" y="291693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A7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72.7%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675120" y="291693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78.0%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595360" y="291693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+7.3%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31520" y="3355848"/>
            <a:ext cx="10725912" cy="10973"/>
          </a:xfrm>
          <a:prstGeom prst="rect">
            <a:avLst/>
          </a:prstGeom>
          <a:solidFill>
            <a:srgbClr val="E3E5E8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31520" y="346557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D14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5120640" y="346557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A7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28.8%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675120" y="346557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36.2%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8595360" y="346557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+25.8%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731520" y="3904488"/>
            <a:ext cx="10725912" cy="10973"/>
          </a:xfrm>
          <a:prstGeom prst="rect">
            <a:avLst/>
          </a:prstGeom>
          <a:solidFill>
            <a:srgbClr val="E3E5E8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31520" y="401421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Завершил ≥ 1 задачу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5120640" y="401421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A7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97.6%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675120" y="401421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98.8%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8595360" y="401421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A7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+1.2%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731520" y="4453128"/>
            <a:ext cx="10725912" cy="10973"/>
          </a:xfrm>
          <a:prstGeom prst="rect">
            <a:avLst/>
          </a:prstGeom>
          <a:solidFill>
            <a:srgbClr val="E3E5E8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31520" y="456285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Value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5120640" y="456285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A7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50.3 ч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6675120" y="456285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25.2 ч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8595360" y="456285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−49.8%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731520" y="5349240"/>
            <a:ext cx="10725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C15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Несмотря на совокупный рост метрик, раскатка на 100% аудитории не рекомендуется —</a:t>
            </a:r>
            <a:endParaRPr lang="en-US" sz="155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C15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старших классах эффект отрицательный.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10725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Эффект локализован на одном шаге воронки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115568"/>
            <a:ext cx="10725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7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Конверсия по шагам воронки, % от предыдущего шага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600200"/>
            <a:ext cx="10725912" cy="10973"/>
          </a:xfrm>
          <a:prstGeom prst="rect">
            <a:avLst/>
          </a:prstGeom>
          <a:solidFill>
            <a:srgbClr val="E3E5E8"/>
          </a:solidFill>
          <a:ln/>
        </p:spPr>
      </p:sp>
      <p:graphicFrame>
        <p:nvGraphicFramePr>
          <p:cNvPr id="5" name="Chart 0" descr=""/>
          <p:cNvGraphicFramePr/>
          <p:nvPr/>
        </p:nvGraphicFramePr>
        <p:xfrm>
          <a:off x="731520" y="1920240"/>
          <a:ext cx="694944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8138160" y="21488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A7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Разницы нет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8138160" y="2487168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7A7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Достижения не заставляют открывать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7A7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больше задач — 90.0% против 90.1%.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8138160" y="34290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+10.2 п.п.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8138160" y="3858768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Эффект локализован на втором шаге: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фича удерживает от отказа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середине задачи. Это соответствует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её механике — награда даётся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 завершение.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10725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Средний эффект скрывал разные сегменты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115568"/>
            <a:ext cx="10725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7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Разброс в тестовой группе оказался выше — это и был сигнал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600200"/>
            <a:ext cx="10725912" cy="10973"/>
          </a:xfrm>
          <a:prstGeom prst="rect">
            <a:avLst/>
          </a:prstGeom>
          <a:solidFill>
            <a:srgbClr val="E3E5E8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965960"/>
            <a:ext cx="5577840" cy="1508760"/>
          </a:xfrm>
          <a:prstGeom prst="rect">
            <a:avLst/>
          </a:prstGeom>
          <a:solidFill>
            <a:srgbClr val="F7F8F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51560" y="21945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Дисперсия в группе B выше на 34%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260604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7A7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 Левене, p &lt; 0.001. Если бы фича действовала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7A7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всех одинаково, разброс бы не изменился.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886200"/>
            <a:ext cx="5577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5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Рост дисперсии указал на неоднородность эффекта.</a:t>
            </a:r>
            <a:endParaRPr lang="en-US" sz="155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5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Проверили разбивку по классу — единственному</a:t>
            </a:r>
            <a:endParaRPr lang="en-US" sz="155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5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демографическому признаку в данных.</a:t>
            </a:r>
            <a:endParaRPr lang="en-US" sz="155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5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разрез, а не перебор, с поправкой на 7 сравнений.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6858000" y="1965960"/>
            <a:ext cx="4599432" cy="37490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178040" y="233172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+26.6%</a:t>
            </a:r>
            <a:endParaRPr lang="en-US" sz="4200" dirty="0"/>
          </a:p>
        </p:txBody>
      </p:sp>
      <p:sp>
        <p:nvSpPr>
          <p:cNvPr id="11" name="Text 9"/>
          <p:cNvSpPr txBox="1"/>
          <p:nvPr/>
        </p:nvSpPr>
        <p:spPr>
          <a:xfrm>
            <a:off x="7178040" y="303580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BC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средний рост Completion Rate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178040" y="3520440"/>
            <a:ext cx="1005840" cy="2743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178040" y="3840480"/>
            <a:ext cx="3931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E8E9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Такой результат совместим</a:t>
            </a:r>
            <a:endParaRPr lang="en-US" sz="145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E8E9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с равномерным ростом,</a:t>
            </a:r>
            <a:endParaRPr lang="en-US" sz="145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E8E9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с разнонаправленными эффектами</a:t>
            </a:r>
            <a:endParaRPr lang="en-US" sz="145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E8E9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подгруппах.</a:t>
            </a:r>
            <a:endParaRPr lang="en-US" sz="1450" dirty="0"/>
          </a:p>
          <a:p>
            <a:pPr indent="0" marL="0">
              <a:lnSpc>
                <a:spcPts val="2300"/>
              </a:lnSpc>
              <a:buNone/>
            </a:pPr>
            <a:endParaRPr lang="en-US" sz="145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E8E9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агрегату их не различить.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10725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старших классов фича работает в минус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115568"/>
            <a:ext cx="10725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7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Изменение Completion Rate относительно контроля, по классам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600200"/>
            <a:ext cx="10725912" cy="10973"/>
          </a:xfrm>
          <a:prstGeom prst="rect">
            <a:avLst/>
          </a:prstGeom>
          <a:solidFill>
            <a:srgbClr val="E3E5E8"/>
          </a:solidFill>
          <a:ln/>
        </p:spPr>
      </p:sp>
      <p:graphicFrame>
        <p:nvGraphicFramePr>
          <p:cNvPr id="5" name="Chart 0" descr=""/>
          <p:cNvGraphicFramePr/>
          <p:nvPr/>
        </p:nvGraphicFramePr>
        <p:xfrm>
          <a:off x="731520" y="1965960"/>
          <a:ext cx="10725912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731520" y="5349240"/>
            <a:ext cx="1072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7A7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семь значений значимы. В контрольной группе база одинаковая во всех классах (0.34–0.36), поэтому разница объясняется реакцией на фичу, а не разным уровнем учеников.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10725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Рекомендация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115568"/>
            <a:ext cx="10725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7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Раскатывать не на всех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600200"/>
            <a:ext cx="10725912" cy="10973"/>
          </a:xfrm>
          <a:prstGeom prst="rect">
            <a:avLst/>
          </a:prstGeom>
          <a:solidFill>
            <a:srgbClr val="E3E5E8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965960"/>
            <a:ext cx="5212080" cy="2743200"/>
          </a:xfrm>
          <a:prstGeom prst="rect">
            <a:avLst/>
          </a:prstGeom>
          <a:solidFill>
            <a:srgbClr val="F7F8F9"/>
          </a:solidFill>
          <a:ln/>
        </p:spPr>
      </p:sp>
      <p:sp>
        <p:nvSpPr>
          <p:cNvPr id="6" name="Shape 4"/>
          <p:cNvSpPr/>
          <p:nvPr/>
        </p:nvSpPr>
        <p:spPr>
          <a:xfrm>
            <a:off x="1051560" y="2240280"/>
            <a:ext cx="502920" cy="32004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51560" y="239572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spc="100" kern="0" dirty="0">
                <a:solidFill>
                  <a:srgbClr val="7A7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5–9 классы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272491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Раскатить</a:t>
            </a:r>
            <a:endParaRPr lang="en-US" sz="27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3401568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 Rate +26…+59%</a:t>
            </a:r>
            <a:endParaRPr lang="en-US" sz="140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D14 +18…+68%</a:t>
            </a:r>
            <a:endParaRPr lang="en-US" sz="140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71% всей аудитории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7920" y="1965960"/>
            <a:ext cx="5212080" cy="2743200"/>
          </a:xfrm>
          <a:prstGeom prst="rect">
            <a:avLst/>
          </a:prstGeom>
          <a:solidFill>
            <a:srgbClr val="F7F8F9"/>
          </a:solidFill>
          <a:ln/>
        </p:spPr>
      </p:sp>
      <p:sp>
        <p:nvSpPr>
          <p:cNvPr id="11" name="Shape 9"/>
          <p:cNvSpPr/>
          <p:nvPr/>
        </p:nvSpPr>
        <p:spPr>
          <a:xfrm>
            <a:off x="6537960" y="2240280"/>
            <a:ext cx="502920" cy="32004"/>
          </a:xfrm>
          <a:prstGeom prst="rect">
            <a:avLst/>
          </a:prstGeom>
          <a:solidFill>
            <a:srgbClr val="C1554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37960" y="239572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spc="100" kern="0" dirty="0">
                <a:solidFill>
                  <a:srgbClr val="7A7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10–11 классы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272491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C15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раскатывать</a:t>
            </a:r>
            <a:endParaRPr lang="en-US" sz="2700" dirty="0"/>
          </a:p>
        </p:txBody>
      </p:sp>
      <p:sp>
        <p:nvSpPr>
          <p:cNvPr id="14" name="Text 12"/>
          <p:cNvSpPr txBox="1"/>
          <p:nvPr/>
        </p:nvSpPr>
        <p:spPr>
          <a:xfrm>
            <a:off x="6537960" y="3401568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 Rate −13…−16%</a:t>
            </a:r>
            <a:endParaRPr lang="en-US" sz="140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D14 −10…−18%</a:t>
            </a:r>
            <a:endParaRPr lang="en-US" sz="140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Целевая аудитория платных курсов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5166360"/>
            <a:ext cx="10725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раскатить на всех, платформа улучшит опыт младших и одновременно уронит</a:t>
            </a:r>
            <a:endParaRPr lang="en-US" sz="165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 Rate у выпускников на 13–16%.</a:t>
            </a:r>
            <a:endParaRPr lang="en-US" sz="1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10725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механика не сработала на старших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115568"/>
            <a:ext cx="10725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7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Гипотезы для следующего эксперимента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600200"/>
            <a:ext cx="10725912" cy="10973"/>
          </a:xfrm>
          <a:prstGeom prst="rect">
            <a:avLst/>
          </a:prstGeom>
          <a:solidFill>
            <a:srgbClr val="E3E5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965960"/>
            <a:ext cx="10698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Механика ежедневных серий не подходит по графику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35000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7A7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10–11 классы совмещают подготовку по разным предметам. Серия прерывается из-за расписания, а не из-за низкой вовлечённости.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337560"/>
            <a:ext cx="10698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Награда привязана к количеству задач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72160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7A7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Приоритет старших классов — сложные задачи по слабым темам. Механика достижений стимулирует объём.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4709160"/>
            <a:ext cx="10725912" cy="155448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97280" y="49377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spc="1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Следующие шаги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5285232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E8E9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10–11 классов геймификация выключена по умолчанию, с опцией включить.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E8E9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Новая механика для старших: награда за прогресс в слабых темах, а не за регулярность.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E8E9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Мониторинг метрик квартал — три недели мало, чтобы исключить эффект новизны.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2026-08-30T11:24:19Z</dcterms:created>
  <dcterms:modified xsi:type="dcterms:W3CDTF">2026-08-30T11:24:19Z</dcterms:modified>
</cp:coreProperties>
</file>